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a54e36e894f1a" /><Relationship Type="http://schemas.openxmlformats.org/officeDocument/2006/relationships/extended-properties" Target="/docProps/app.xml" Id="R766517d4cbfe4552" /><Relationship Type="http://schemas.openxmlformats.org/officeDocument/2006/relationships/officeDocument" Target="/ppt/presentation.xml" Id="Rd80f66e6570c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ae7bd3308345d3"/>
  </p:sldMasterIdLst>
  <p:notesMasterIdLst>
    <p:notesMasterId xmlns:r="http://schemas.openxmlformats.org/officeDocument/2006/relationships" r:id="R63328c0a90824edb"/>
  </p:notesMasterIdLst>
  <p:sldIdLst>
    <p:sldId xmlns:r="http://schemas.openxmlformats.org/officeDocument/2006/relationships" id="256" r:id="Re94b16cdb1d144c7"/>
    <p:sldId xmlns:r="http://schemas.openxmlformats.org/officeDocument/2006/relationships" id="257" r:id="R9f82f652fdee437c"/>
    <p:sldId xmlns:r="http://schemas.openxmlformats.org/officeDocument/2006/relationships" id="258" r:id="R215b772de2dd4fc8"/>
    <p:sldId xmlns:r="http://schemas.openxmlformats.org/officeDocument/2006/relationships" id="259" r:id="Ra24d7499b0db4051"/>
    <p:sldId xmlns:r="http://schemas.openxmlformats.org/officeDocument/2006/relationships" id="260" r:id="R619c6ce1d09a446f"/>
    <p:sldId xmlns:r="http://schemas.openxmlformats.org/officeDocument/2006/relationships" id="261" r:id="R6227a5f06c99415b"/>
    <p:sldId xmlns:r="http://schemas.openxmlformats.org/officeDocument/2006/relationships" id="262" r:id="R840a4fb1196f425d"/>
    <p:sldId xmlns:r="http://schemas.openxmlformats.org/officeDocument/2006/relationships" id="263" r:id="Re1e88b66bdd34665"/>
    <p:sldId xmlns:r="http://schemas.openxmlformats.org/officeDocument/2006/relationships" id="264" r:id="R0fc931a3c3ac40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39bd97dcc84ed2" /><Relationship Type="http://schemas.openxmlformats.org/officeDocument/2006/relationships/slideMaster" Target="/ppt/slideMasters/slideMaster1.xml" Id="Rdfae7bd3308345d3" /><Relationship Type="http://schemas.openxmlformats.org/officeDocument/2006/relationships/notesMaster" Target="/ppt/notesMasters/notesMaster1.xml" Id="R63328c0a90824edb" /><Relationship Type="http://schemas.openxmlformats.org/officeDocument/2006/relationships/presProps" Target="/ppt/presProps.xml" Id="R7e84db79a30646be" /><Relationship Type="http://schemas.openxmlformats.org/officeDocument/2006/relationships/tableStyles" Target="/ppt/tableStyles.xml" Id="R9f611481a6504e45" /><Relationship Type="http://schemas.openxmlformats.org/officeDocument/2006/relationships/slide" Target="/ppt/slides/slide1.xml" Id="Re94b16cdb1d144c7" /><Relationship Type="http://schemas.openxmlformats.org/officeDocument/2006/relationships/slide" Target="/ppt/slides/slide2.xml" Id="R9f82f652fdee437c" /><Relationship Type="http://schemas.openxmlformats.org/officeDocument/2006/relationships/slide" Target="/ppt/slides/slide3.xml" Id="R215b772de2dd4fc8" /><Relationship Type="http://schemas.openxmlformats.org/officeDocument/2006/relationships/slide" Target="/ppt/slides/slide4.xml" Id="Ra24d7499b0db4051" /><Relationship Type="http://schemas.openxmlformats.org/officeDocument/2006/relationships/slide" Target="/ppt/slides/slide5.xml" Id="R619c6ce1d09a446f" /><Relationship Type="http://schemas.openxmlformats.org/officeDocument/2006/relationships/slide" Target="/ppt/slides/slide6.xml" Id="R6227a5f06c99415b" /><Relationship Type="http://schemas.openxmlformats.org/officeDocument/2006/relationships/slide" Target="/ppt/slides/slide7.xml" Id="R840a4fb1196f425d" /><Relationship Type="http://schemas.openxmlformats.org/officeDocument/2006/relationships/slide" Target="/ppt/slides/slide8.xml" Id="Re1e88b66bdd34665" /><Relationship Type="http://schemas.openxmlformats.org/officeDocument/2006/relationships/slide" Target="/ppt/slides/slide9.xml" Id="R0fc931a3c3ac40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db20a65b28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6857e5fd244510" /><Relationship Type="http://schemas.openxmlformats.org/officeDocument/2006/relationships/notesMaster" Target="/ppt/notesMasters/notesMaster1.xml" Id="R1a79dd19126e41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e0d23f4914211" /><Relationship Type="http://schemas.openxmlformats.org/officeDocument/2006/relationships/notesMaster" Target="/ppt/notesMasters/notesMaster1.xml" Id="R7a72979909d4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2592416b824841" /><Relationship Type="http://schemas.openxmlformats.org/officeDocument/2006/relationships/notesMaster" Target="/ppt/notesMasters/notesMaster1.xml" Id="R07a29ffc6fae4d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2223f386624b7c" /><Relationship Type="http://schemas.openxmlformats.org/officeDocument/2006/relationships/notesMaster" Target="/ppt/notesMasters/notesMaster1.xml" Id="Rbf1211d7b8ab4d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f0180c9564d90" /><Relationship Type="http://schemas.openxmlformats.org/officeDocument/2006/relationships/notesMaster" Target="/ppt/notesMasters/notesMaster1.xml" Id="R8feb66cc90da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dcf4c4c5174da4" /><Relationship Type="http://schemas.openxmlformats.org/officeDocument/2006/relationships/notesMaster" Target="/ppt/notesMasters/notesMaster1.xml" Id="Rd8f378058fef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42de40173b4c9f" /><Relationship Type="http://schemas.openxmlformats.org/officeDocument/2006/relationships/notesMaster" Target="/ppt/notesMasters/notesMaster1.xml" Id="R98f326780fa948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675257b65243c9" /><Relationship Type="http://schemas.openxmlformats.org/officeDocument/2006/relationships/notesMaster" Target="/ppt/notesMasters/notesMaster1.xml" Id="R086936d9c22544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7512aab39748bf" /><Relationship Type="http://schemas.openxmlformats.org/officeDocument/2006/relationships/notesMaster" Target="/ppt/notesMasters/notesMaster1.xml" Id="Re28536fdf885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416723f8c45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5a81f8a1714e25" /><Relationship Type="http://schemas.openxmlformats.org/officeDocument/2006/relationships/slideLayout" Target="/ppt/slideLayouts/slideLayout1.xml" Id="R59d4fbd42320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4fbd42320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729fede0c446c" /><Relationship Type="http://schemas.openxmlformats.org/officeDocument/2006/relationships/notesSlide" Target="/ppt/notesSlides/notesSlide1.xml" Id="R34b0cebdd830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229817d8d41e6" /><Relationship Type="http://schemas.openxmlformats.org/officeDocument/2006/relationships/notesSlide" Target="/ppt/notesSlides/notesSlide2.xml" Id="R774cb99ab2a04d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6e17d680c4b89" /><Relationship Type="http://schemas.openxmlformats.org/officeDocument/2006/relationships/notesSlide" Target="/ppt/notesSlides/notesSlide3.xml" Id="R64bc67ba335e46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9a0ab39354379" /><Relationship Type="http://schemas.openxmlformats.org/officeDocument/2006/relationships/notesSlide" Target="/ppt/notesSlides/notesSlide4.xml" Id="Rb53afd4de199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742cc09814678" /><Relationship Type="http://schemas.openxmlformats.org/officeDocument/2006/relationships/notesSlide" Target="/ppt/notesSlides/notesSlide5.xml" Id="R6509489f54e843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31455f8714124" /><Relationship Type="http://schemas.openxmlformats.org/officeDocument/2006/relationships/notesSlide" Target="/ppt/notesSlides/notesSlide6.xml" Id="Ra7dca50ffeb4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6e64c295f4248" /><Relationship Type="http://schemas.openxmlformats.org/officeDocument/2006/relationships/notesSlide" Target="/ppt/notesSlides/notesSlide7.xml" Id="R4ef2bfe587834f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23fb2ae5c4ad2" /><Relationship Type="http://schemas.openxmlformats.org/officeDocument/2006/relationships/notesSlide" Target="/ppt/notesSlides/notesSlide8.xml" Id="Rc003381bbd3549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03293387e467c" /><Relationship Type="http://schemas.openxmlformats.org/officeDocument/2006/relationships/notesSlide" Target="/ppt/notesSlides/notesSlide9.xml" Id="Re797bdea03d2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D9BFDE6-AEDD-4CAC-9DDD-17F8347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CODEGATE 2026 · AI STARTUP HACKATHON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545AF1-A9E2-40D8-8DF6-BBDCB5CF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763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IndexGuard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BB2BAF4-82F1-4A4E-8BFD-89C7B9D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990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문서가 RAG의 지식이 되기 전에 검증한다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5E16B0C-161B-43F3-A3E6-CEF6CC3C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9FF"/>
          </a:solidFill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3E4D23C2-4829-4B51-8E20-3850544B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HWPX · PDF · DOCX  /  PRE-INDEX SECURITY GATE</a:t>
            </a:r>
          </a:p>
        </p:txBody>
      </p:sp>
      <p:sp>
        <p:nvSpPr>
          <p:cNvPr id="6" name="cover-team">
            <a:extLst xmlns:a="http://schemas.openxmlformats.org/drawingml/2006/main">
              <a:ext uri="{FF2B5EF4-FFF2-40B4-BE49-F238E27FC236}">
                <a16:creationId xmlns:a16="http://schemas.microsoft.com/office/drawing/2014/main" id="{E84E2BE4-2B81-41BD-B20D-F1BB5A5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Generated-by-AI</a:t>
            </a:r>
          </a:p>
        </p:txBody>
      </p:sp>
    </p:spTree>
    <p:extLst>
      <p:ext uri="{BB962C8B-B14F-4D97-AF65-F5344CB8AC3E}">
        <p14:creationId xmlns:p14="http://schemas.microsoft.com/office/powerpoint/2010/main" val="2084185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2">
            <a:extLst xmlns:a="http://schemas.openxmlformats.org/drawingml/2006/main">
              <a:ext uri="{FF2B5EF4-FFF2-40B4-BE49-F238E27FC236}">
                <a16:creationId xmlns:a16="http://schemas.microsoft.com/office/drawing/2014/main" id="{BEDABFAE-FB50-4CE2-BE87-8C86AEA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RAG 오염은 색인에서 시작됩니다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CECB3094-591B-4631-8150-09294DF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4B63323D-A021-4DC1-BEA6-DCA8595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1E6E4B75-7A0D-4053-9C9E-1967F04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1465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roblem-node-1">
            <a:extLst xmlns:a="http://schemas.openxmlformats.org/drawingml/2006/main">
              <a:ext uri="{FF2B5EF4-FFF2-40B4-BE49-F238E27FC236}">
                <a16:creationId xmlns:a16="http://schemas.microsoft.com/office/drawing/2014/main" id="{25FD297C-375E-4FF8-8953-F3C30C0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105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6" name="problem-node-2">
            <a:extLst xmlns:a="http://schemas.openxmlformats.org/drawingml/2006/main">
              <a:ext uri="{FF2B5EF4-FFF2-40B4-BE49-F238E27FC236}">
                <a16:creationId xmlns:a16="http://schemas.microsoft.com/office/drawing/2014/main" id="{81ECED80-F556-4AD4-84E8-41C81EB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38350"/>
            <a:ext cx="33242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</p:spPr>
      </p:sp>
      <p:sp>
        <p:nvSpPr>
          <p:cNvPr id="7" name="problem-node-3">
            <a:extLst xmlns:a="http://schemas.openxmlformats.org/drawingml/2006/main">
              <a:ext uri="{FF2B5EF4-FFF2-40B4-BE49-F238E27FC236}">
                <a16:creationId xmlns:a16="http://schemas.microsoft.com/office/drawing/2014/main" id="{19572205-7B1E-4F19-AE08-FF112806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38350"/>
            <a:ext cx="37052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8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EA99307C-08B2-40B3-9F95-FC549CB7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신뢰 문서</a:t>
            </a:r>
          </a:p>
        </p:txBody>
      </p:sp>
      <p:sp>
        <p:nvSpPr>
          <p:cNvPr id="9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DA6C0685-C743-466D-8F5D-EC47843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571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정책·급여·규정
기업의 기준 정보</a:t>
            </a:r>
          </a:p>
        </p:txBody>
      </p:sp>
      <p:sp>
        <p:nvSpPr>
          <p:cNvPr id="10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C16F6AD5-4A8C-44B1-A1AC-2C19FD75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문장 한 줄 변조</a:t>
            </a:r>
          </a:p>
        </p:txBody>
      </p:sp>
      <p:sp>
        <p:nvSpPr>
          <p:cNvPr id="11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AEFD520C-FC06-48E0-8E55-FB2AC4D8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27813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숫자·주체·정책
숨겨진 지시문</a:t>
            </a:r>
          </a:p>
        </p:txBody>
      </p:sp>
      <p:sp>
        <p:nvSpPr>
          <p:cNvPr id="12" name="problem-label-3">
            <a:extLst xmlns:a="http://schemas.openxmlformats.org/drawingml/2006/main">
              <a:ext uri="{FF2B5EF4-FFF2-40B4-BE49-F238E27FC236}">
                <a16:creationId xmlns:a16="http://schemas.microsoft.com/office/drawing/2014/main" id="{FAE8C7A4-C525-42D0-AFB1-0C4514A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05050"/>
            <a:ext cx="3133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반복되는 잘못된 답변</a:t>
            </a:r>
          </a:p>
        </p:txBody>
      </p:sp>
      <p:sp>
        <p:nvSpPr>
          <p:cNvPr id="13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9816FB5F-9122-48D0-948A-A27F603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31337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오염된 정보가
반복되는 오답이 됩니다</a:t>
            </a:r>
          </a:p>
        </p:txBody>
      </p:sp>
      <p:sp>
        <p:nvSpPr>
          <p:cNvPr id="14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7AEC798E-6F74-4259-AA0C-7F9EF68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답변 사후 필터만으로는 이미 늦습니다.</a:t>
            </a:r>
          </a:p>
        </p:txBody>
      </p:sp>
      <p:sp>
        <p:nvSpPr>
          <p:cNvPr id="1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872EA341-4308-4CD1-854E-FF84216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0B78F61-671D-4B3C-9712-367B3DD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6690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F62FA257-2934-44D0-9488-009BC911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문자 차이보다 ‘사실의 의미 변화’를 봅니다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B7E64CB1-5AF2-4243-8A57-A7D118E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semantic-divider">
            <a:extLst xmlns:a="http://schemas.openxmlformats.org/drawingml/2006/main">
              <a:ext uri="{FF2B5EF4-FFF2-40B4-BE49-F238E27FC236}">
                <a16:creationId xmlns:a16="http://schemas.microsoft.com/office/drawing/2014/main" id="{59DEC6EA-8BDE-4421-A413-9453B1D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66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semantic-left-title">
            <a:extLst xmlns:a="http://schemas.openxmlformats.org/drawingml/2006/main">
              <a:ext uri="{FF2B5EF4-FFF2-40B4-BE49-F238E27FC236}">
                <a16:creationId xmlns:a16="http://schemas.microsoft.com/office/drawing/2014/main" id="{6EFF3651-15F9-48BE-B927-01A68305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00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9F6D"/>
                </a:solidFill>
                <a:latin typeface="Noto Sans KR"/>
                <a:ea typeface="Noto Sans KR"/>
                <a:cs typeface="Noto Sans KR"/>
              </a:defRPr>
            </a:pPr>
            <a:r>
              <a:t>표현만 달라진 경우</a:t>
            </a:r>
          </a:p>
        </p:txBody>
      </p:sp>
      <p:sp>
        <p:nvSpPr>
          <p:cNvPr id="5" name="semantic-left-desc">
            <a:extLst xmlns:a="http://schemas.openxmlformats.org/drawingml/2006/main">
              <a:ext uri="{FF2B5EF4-FFF2-40B4-BE49-F238E27FC236}">
                <a16:creationId xmlns:a16="http://schemas.microsoft.com/office/drawing/2014/main" id="{26975F50-72A7-4714-8C4A-9A6BC6D5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000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띄어쓰기 · 조사 · 자연스러운 재표현</a:t>
            </a:r>
          </a:p>
        </p:txBody>
      </p:sp>
      <p:sp>
        <p:nvSpPr>
          <p:cNvPr id="6" name="semantic-allow">
            <a:extLst xmlns:a="http://schemas.openxmlformats.org/drawingml/2006/main">
              <a:ext uri="{FF2B5EF4-FFF2-40B4-BE49-F238E27FC236}">
                <a16:creationId xmlns:a16="http://schemas.microsoft.com/office/drawing/2014/main" id="{2FCB3EB3-CD31-4A28-A283-E371FD5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</p:spPr>
      </p:sp>
      <p:sp>
        <p:nvSpPr>
          <p:cNvPr id="7" name="semantic-allow-text">
            <a:extLst xmlns:a="http://schemas.openxmlformats.org/drawingml/2006/main">
              <a:ext uri="{FF2B5EF4-FFF2-40B4-BE49-F238E27FC236}">
                <a16:creationId xmlns:a16="http://schemas.microsoft.com/office/drawing/2014/main" id="{D843F257-7A30-4397-AB08-50720F1A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9F6D"/>
                </a:solidFill>
                <a:latin typeface="Noto Sans KR"/>
                <a:ea typeface="Noto Sans KR"/>
                <a:cs typeface="Noto Sans KR"/>
              </a:defRPr>
            </a:pPr>
            <a:r>
              <a:t>ALLOW</a:t>
            </a:r>
          </a:p>
        </p:txBody>
      </p:sp>
      <p:sp>
        <p:nvSpPr>
          <p:cNvPr id="8" name="semantic-left-takeaway">
            <a:extLst xmlns:a="http://schemas.openxmlformats.org/drawingml/2006/main">
              <a:ext uri="{FF2B5EF4-FFF2-40B4-BE49-F238E27FC236}">
                <a16:creationId xmlns:a16="http://schemas.microsoft.com/office/drawing/2014/main" id="{1DF82BB7-B0C2-4EA1-95F9-DB4A24B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00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같은 사실은 통과</a:t>
            </a:r>
          </a:p>
        </p:txBody>
      </p:sp>
      <p:sp>
        <p:nvSpPr>
          <p:cNvPr id="9" name="semantic-right-title">
            <a:extLst xmlns:a="http://schemas.openxmlformats.org/drawingml/2006/main">
              <a:ext uri="{FF2B5EF4-FFF2-40B4-BE49-F238E27FC236}">
                <a16:creationId xmlns:a16="http://schemas.microsoft.com/office/drawing/2014/main" id="{65F1E802-AA0B-4D8D-84F3-E6635A8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85950"/>
            <a:ext cx="51530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핵심 사실이 달라진 경우</a:t>
            </a:r>
          </a:p>
        </p:txBody>
      </p:sp>
      <p:sp>
        <p:nvSpPr>
          <p:cNvPr id="10" name="semantic-right-desc">
            <a:extLst xmlns:a="http://schemas.openxmlformats.org/drawingml/2006/main">
              <a:ext uri="{FF2B5EF4-FFF2-40B4-BE49-F238E27FC236}">
                <a16:creationId xmlns:a16="http://schemas.microsoft.com/office/drawing/2014/main" id="{01A0F860-585C-4914-957E-4CDA243E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1530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주체 · 속성 · 값 · 정책 의미</a:t>
            </a:r>
          </a:p>
        </p:txBody>
      </p:sp>
      <p:sp>
        <p:nvSpPr>
          <p:cNvPr id="11" name="semantic-block">
            <a:extLst xmlns:a="http://schemas.openxmlformats.org/drawingml/2006/main">
              <a:ext uri="{FF2B5EF4-FFF2-40B4-BE49-F238E27FC236}">
                <a16:creationId xmlns:a16="http://schemas.microsoft.com/office/drawing/2014/main" id="{70A6A6A1-5FC3-4B9A-B11B-BD42001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90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</p:spPr>
      </p:sp>
      <p:sp>
        <p:nvSpPr>
          <p:cNvPr id="12" name="semantic-block-text">
            <a:extLst xmlns:a="http://schemas.openxmlformats.org/drawingml/2006/main">
              <a:ext uri="{FF2B5EF4-FFF2-40B4-BE49-F238E27FC236}">
                <a16:creationId xmlns:a16="http://schemas.microsoft.com/office/drawing/2014/main" id="{A8EDAFA5-73AF-4981-B15D-E08B1E2E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REVIEW / BLOCK</a:t>
            </a:r>
          </a:p>
        </p:txBody>
      </p:sp>
      <p:sp>
        <p:nvSpPr>
          <p:cNvPr id="13" name="semantic-right-takeaway">
            <a:extLst xmlns:a="http://schemas.openxmlformats.org/drawingml/2006/main">
              <a:ext uri="{FF2B5EF4-FFF2-40B4-BE49-F238E27FC236}">
                <a16:creationId xmlns:a16="http://schemas.microsoft.com/office/drawing/2014/main" id="{E1FD46D5-7CC2-49AD-BAF8-7D85A54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95800"/>
            <a:ext cx="51530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위험한 변화는 색인 전에 중단</a:t>
            </a:r>
          </a:p>
        </p:txBody>
      </p:sp>
      <p:sp>
        <p:nvSpPr>
          <p:cNvPr id="1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9438356-610B-4A9E-992E-5D8E8242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18FE7E4-3CF2-440C-BC59-31C2512A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5743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4">
            <a:extLst xmlns:a="http://schemas.openxmlformats.org/drawingml/2006/main">
              <a:ext uri="{FF2B5EF4-FFF2-40B4-BE49-F238E27FC236}">
                <a16:creationId xmlns:a16="http://schemas.microsoft.com/office/drawing/2014/main" id="{56BEBF0A-0F71-482E-9DE6-14893F0E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IndexGuard는 임베딩 직전에 작동합니다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7DBC0DF0-CF06-48DA-B195-55CD509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204EADB-B245-479D-8844-72313649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371520D9-B8AF-404C-AC9C-92BDE0A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F5D0E89A-FD2C-47B5-BA0C-32AAFDF5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C2A1EB83-31FB-44EC-A9F6-BC312A31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arch-arrow-5">
            <a:extLst xmlns:a="http://schemas.openxmlformats.org/drawingml/2006/main">
              <a:ext uri="{FF2B5EF4-FFF2-40B4-BE49-F238E27FC236}">
                <a16:creationId xmlns:a16="http://schemas.microsoft.com/office/drawing/2014/main" id="{AD87F516-042B-4EC7-B171-24D79A6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arch-input">
            <a:extLst xmlns:a="http://schemas.openxmlformats.org/drawingml/2006/main">
              <a:ext uri="{FF2B5EF4-FFF2-40B4-BE49-F238E27FC236}">
                <a16:creationId xmlns:a16="http://schemas.microsoft.com/office/drawing/2014/main" id="{1740BC40-1B97-43DA-9BB2-5ADAB44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9" name="arch-a">
            <a:extLst xmlns:a="http://schemas.openxmlformats.org/drawingml/2006/main">
              <a:ext uri="{FF2B5EF4-FFF2-40B4-BE49-F238E27FC236}">
                <a16:creationId xmlns:a16="http://schemas.microsoft.com/office/drawing/2014/main" id="{98688E57-64F0-431E-9785-03D9AA6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0" name="arch-b">
            <a:extLst xmlns:a="http://schemas.openxmlformats.org/drawingml/2006/main">
              <a:ext uri="{FF2B5EF4-FFF2-40B4-BE49-F238E27FC236}">
                <a16:creationId xmlns:a16="http://schemas.microsoft.com/office/drawing/2014/main" id="{01BD9181-8BC6-4FFD-9AEF-5CF5B56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1" name="arch-c">
            <a:extLst xmlns:a="http://schemas.openxmlformats.org/drawingml/2006/main">
              <a:ext uri="{FF2B5EF4-FFF2-40B4-BE49-F238E27FC236}">
                <a16:creationId xmlns:a16="http://schemas.microsoft.com/office/drawing/2014/main" id="{C9C3ACD8-BD18-472D-914E-7E97B69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2" name="arch-gate">
            <a:extLst xmlns:a="http://schemas.openxmlformats.org/drawingml/2006/main">
              <a:ext uri="{FF2B5EF4-FFF2-40B4-BE49-F238E27FC236}">
                <a16:creationId xmlns:a16="http://schemas.microsoft.com/office/drawing/2014/main" id="{93D2E7CF-AEC9-4E6C-A5C3-B9DA027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</p:spPr>
      </p:sp>
      <p:sp>
        <p:nvSpPr>
          <p:cNvPr id="13" name="arch-rag">
            <a:extLst xmlns:a="http://schemas.openxmlformats.org/drawingml/2006/main">
              <a:ext uri="{FF2B5EF4-FFF2-40B4-BE49-F238E27FC236}">
                <a16:creationId xmlns:a16="http://schemas.microsoft.com/office/drawing/2014/main" id="{9F8B6C9C-78D2-40DE-97CE-B0501791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66950"/>
            <a:ext cx="16764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</p:spPr>
      </p:sp>
      <p:sp>
        <p:nvSpPr>
          <p:cNvPr id="14" name="arch-input-title">
            <a:extLst xmlns:a="http://schemas.openxmlformats.org/drawingml/2006/main">
              <a:ext uri="{FF2B5EF4-FFF2-40B4-BE49-F238E27FC236}">
                <a16:creationId xmlns:a16="http://schemas.microsoft.com/office/drawing/2014/main" id="{7702D63D-5CDA-4393-A6AB-8CE4564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314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 입력</a:t>
            </a:r>
          </a:p>
        </p:txBody>
      </p:sp>
      <p:sp>
        <p:nvSpPr>
          <p:cNvPr id="15" name="arch-input-body">
            <a:extLst xmlns:a="http://schemas.openxmlformats.org/drawingml/2006/main">
              <a:ext uri="{FF2B5EF4-FFF2-40B4-BE49-F238E27FC236}">
                <a16:creationId xmlns:a16="http://schemas.microsoft.com/office/drawing/2014/main" id="{CA66D78A-3BC9-4BF1-865A-95ECA5D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3144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HWPX
PDF
DOCX</a:t>
            </a:r>
          </a:p>
        </p:txBody>
      </p:sp>
      <p:sp>
        <p:nvSpPr>
          <p:cNvPr id="16" name="arch-a-title">
            <a:extLst xmlns:a="http://schemas.openxmlformats.org/drawingml/2006/main">
              <a:ext uri="{FF2B5EF4-FFF2-40B4-BE49-F238E27FC236}">
                <a16:creationId xmlns:a16="http://schemas.microsoft.com/office/drawing/2014/main" id="{7C717F8C-E548-47ED-9680-3398159F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A 게이트웨이</a:t>
            </a:r>
          </a:p>
        </p:txBody>
      </p:sp>
      <p:sp>
        <p:nvSpPr>
          <p:cNvPr id="17" name="arch-a-body">
            <a:extLst xmlns:a="http://schemas.openxmlformats.org/drawingml/2006/main">
              <a:ext uri="{FF2B5EF4-FFF2-40B4-BE49-F238E27FC236}">
                <a16:creationId xmlns:a16="http://schemas.microsoft.com/office/drawing/2014/main" id="{5A717F36-A127-49B3-83C4-9E8B0CA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정규화
버전·Diff
SHA</a:t>
            </a:r>
          </a:p>
        </p:txBody>
      </p:sp>
      <p:sp>
        <p:nvSpPr>
          <p:cNvPr id="18" name="arch-b-title">
            <a:extLst xmlns:a="http://schemas.openxmlformats.org/drawingml/2006/main">
              <a:ext uri="{FF2B5EF4-FFF2-40B4-BE49-F238E27FC236}">
                <a16:creationId xmlns:a16="http://schemas.microsoft.com/office/drawing/2014/main" id="{643EF7EF-3B29-42F1-BDD3-CA2C91C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B 위험 분석</a:t>
            </a:r>
          </a:p>
        </p:txBody>
      </p:sp>
      <p:sp>
        <p:nvSpPr>
          <p:cNvPr id="19" name="arch-b-body">
            <a:extLst xmlns:a="http://schemas.openxmlformats.org/drawingml/2006/main">
              <a:ext uri="{FF2B5EF4-FFF2-40B4-BE49-F238E27FC236}">
                <a16:creationId xmlns:a16="http://schemas.microsoft.com/office/drawing/2014/main" id="{E8A868B5-67F3-4805-91EF-FAADC03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정적 규칙
LLM 문맥
근거</a:t>
            </a:r>
          </a:p>
        </p:txBody>
      </p:sp>
      <p:sp>
        <p:nvSpPr>
          <p:cNvPr id="20" name="arch-c-title">
            <a:extLst xmlns:a="http://schemas.openxmlformats.org/drawingml/2006/main">
              <a:ext uri="{FF2B5EF4-FFF2-40B4-BE49-F238E27FC236}">
                <a16:creationId xmlns:a16="http://schemas.microsoft.com/office/drawing/2014/main" id="{19FBDE43-C01A-4DF7-9B2B-4787686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C 운영 승인</a:t>
            </a:r>
          </a:p>
        </p:txBody>
      </p:sp>
      <p:sp>
        <p:nvSpPr>
          <p:cNvPr id="21" name="arch-c-body">
            <a:extLst xmlns:a="http://schemas.openxmlformats.org/drawingml/2006/main">
              <a:ext uri="{FF2B5EF4-FFF2-40B4-BE49-F238E27FC236}">
                <a16:creationId xmlns:a16="http://schemas.microsoft.com/office/drawing/2014/main" id="{57EB16D8-4F05-442B-80E6-5A75AF07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승인
보류
재분석</a:t>
            </a:r>
          </a:p>
        </p:txBody>
      </p:sp>
      <p:sp>
        <p:nvSpPr>
          <p:cNvPr id="22" name="arch-gate-title">
            <a:extLst xmlns:a="http://schemas.openxmlformats.org/drawingml/2006/main">
              <a:ext uri="{FF2B5EF4-FFF2-40B4-BE49-F238E27FC236}">
                <a16:creationId xmlns:a16="http://schemas.microsoft.com/office/drawing/2014/main" id="{FD473C16-E64B-4A96-BBE9-FF4AE877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색인 정책</a:t>
            </a:r>
          </a:p>
        </p:txBody>
      </p:sp>
      <p:sp>
        <p:nvSpPr>
          <p:cNvPr id="23" name="arch-gate-body">
            <a:extLst xmlns:a="http://schemas.openxmlformats.org/drawingml/2006/main">
              <a:ext uri="{FF2B5EF4-FFF2-40B4-BE49-F238E27FC236}">
                <a16:creationId xmlns:a16="http://schemas.microsoft.com/office/drawing/2014/main" id="{2B132029-C000-4130-BC60-EEE2DF9F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INDEX
HOLD
QUARANTINE</a:t>
            </a:r>
          </a:p>
        </p:txBody>
      </p:sp>
      <p:sp>
        <p:nvSpPr>
          <p:cNvPr id="24" name="arch-rag-title">
            <a:extLst xmlns:a="http://schemas.openxmlformats.org/drawingml/2006/main">
              <a:ext uri="{FF2B5EF4-FFF2-40B4-BE49-F238E27FC236}">
                <a16:creationId xmlns:a16="http://schemas.microsoft.com/office/drawing/2014/main" id="{9BEF360B-77B1-4664-98BE-F5431F5C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574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보호된 RAG</a:t>
            </a:r>
          </a:p>
        </p:txBody>
      </p:sp>
      <p:sp>
        <p:nvSpPr>
          <p:cNvPr id="25" name="arch-rag-body">
            <a:extLst xmlns:a="http://schemas.openxmlformats.org/drawingml/2006/main">
              <a:ext uri="{FF2B5EF4-FFF2-40B4-BE49-F238E27FC236}">
                <a16:creationId xmlns:a16="http://schemas.microsoft.com/office/drawing/2014/main" id="{4C30FCF9-E896-40CE-A020-026E7BEB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43225"/>
            <a:ext cx="1447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승인된
지식만
검색</a:t>
            </a:r>
          </a:p>
        </p:txBody>
      </p:sp>
      <p:sp>
        <p:nvSpPr>
          <p:cNvPr id="26" name="arch-invariant-label">
            <a:extLst xmlns:a="http://schemas.openxmlformats.org/drawingml/2006/main">
              <a:ext uri="{FF2B5EF4-FFF2-40B4-BE49-F238E27FC236}">
                <a16:creationId xmlns:a16="http://schemas.microsoft.com/office/drawing/2014/main" id="{3411F4CD-861B-4C54-8321-5E8BD927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핵심 불변식</a:t>
            </a:r>
          </a:p>
        </p:txBody>
      </p:sp>
      <p:sp>
        <p:nvSpPr>
          <p:cNvPr id="27" name="arch-invariant">
            <a:extLst xmlns:a="http://schemas.openxmlformats.org/drawingml/2006/main">
              <a:ext uri="{FF2B5EF4-FFF2-40B4-BE49-F238E27FC236}">
                <a16:creationId xmlns:a16="http://schemas.microsoft.com/office/drawing/2014/main" id="{A81C5C37-B40C-4D78-92AE-1084714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B의 ALLOW + C의 승인 + 동일 후보 SHA가 모두 일치할 때만 색인합니다.</a:t>
            </a:r>
          </a:p>
        </p:txBody>
      </p:sp>
      <p:sp>
        <p:nvSpPr>
          <p:cNvPr id="2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38FF39F-9894-4F2D-BA4F-B9E40B8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4724B9E-EACE-48CA-B0F3-205D4C09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3963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mo-eyebrow">
            <a:extLst xmlns:a="http://schemas.openxmlformats.org/drawingml/2006/main">
              <a:ext uri="{FF2B5EF4-FFF2-40B4-BE49-F238E27FC236}">
                <a16:creationId xmlns:a16="http://schemas.microsoft.com/office/drawing/2014/main" id="{A3444B49-0F50-4ECF-B227-E52BDFB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LIVE DEMO</a:t>
            </a:r>
          </a:p>
        </p:txBody>
      </p:sp>
      <p:sp>
        <p:nvSpPr>
          <p:cNvPr id="2" name="demo-title">
            <a:extLst xmlns:a="http://schemas.openxmlformats.org/drawingml/2006/main">
              <a:ext uri="{FF2B5EF4-FFF2-40B4-BE49-F238E27FC236}">
                <a16:creationId xmlns:a16="http://schemas.microsoft.com/office/drawing/2014/main" id="{BE8DCB29-E31C-4D92-AD5C-EB4FCB1F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같은 문장을 네 가지 방식으로 바꿔보겠습니다</a:t>
            </a:r>
          </a:p>
        </p:txBody>
      </p:sp>
      <p:sp>
        <p:nvSpPr>
          <p:cNvPr id="3" name="demo-sentence-bg">
            <a:extLst xmlns:a="http://schemas.openxmlformats.org/drawingml/2006/main">
              <a:ext uri="{FF2B5EF4-FFF2-40B4-BE49-F238E27FC236}">
                <a16:creationId xmlns:a16="http://schemas.microsoft.com/office/drawing/2014/main" id="{8CAE703F-2E34-4BEB-9466-9AEDFD0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1391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4" name="demo-sentence">
            <a:extLst xmlns:a="http://schemas.openxmlformats.org/drawingml/2006/main">
              <a:ext uri="{FF2B5EF4-FFF2-40B4-BE49-F238E27FC236}">
                <a16:creationId xmlns:a16="http://schemas.microsoft.com/office/drawing/2014/main" id="{2BCD42A2-4719-4C6C-B5E0-BDEDB8D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김지훈 월급 2000000원</a:t>
            </a:r>
          </a:p>
        </p:txBody>
      </p:sp>
      <p:sp>
        <p:nvSpPr>
          <p:cNvPr id="5" name="demo-subject">
            <a:extLst xmlns:a="http://schemas.openxmlformats.org/drawingml/2006/main">
              <a:ext uri="{FF2B5EF4-FFF2-40B4-BE49-F238E27FC236}">
                <a16:creationId xmlns:a16="http://schemas.microsoft.com/office/drawing/2014/main" id="{E5E3F2E0-0BBD-4645-9F89-D077F2B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24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6" name="demo-property">
            <a:extLst xmlns:a="http://schemas.openxmlformats.org/drawingml/2006/main">
              <a:ext uri="{FF2B5EF4-FFF2-40B4-BE49-F238E27FC236}">
                <a16:creationId xmlns:a16="http://schemas.microsoft.com/office/drawing/2014/main" id="{F73E683B-6D4A-43CA-836A-773B07ED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24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</p:spPr>
      </p:sp>
      <p:sp>
        <p:nvSpPr>
          <p:cNvPr id="7" name="demo-value">
            <a:extLst xmlns:a="http://schemas.openxmlformats.org/drawingml/2006/main">
              <a:ext uri="{FF2B5EF4-FFF2-40B4-BE49-F238E27FC236}">
                <a16:creationId xmlns:a16="http://schemas.microsoft.com/office/drawing/2014/main" id="{2FCD74AA-A393-4AE2-89E8-D81A7F0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</p:spPr>
      </p:sp>
      <p:sp>
        <p:nvSpPr>
          <p:cNvPr id="8" name="demo-subject-text">
            <a:extLst xmlns:a="http://schemas.openxmlformats.org/drawingml/2006/main">
              <a:ext uri="{FF2B5EF4-FFF2-40B4-BE49-F238E27FC236}">
                <a16:creationId xmlns:a16="http://schemas.microsoft.com/office/drawing/2014/main" id="{5460FBB2-74CA-49E1-901D-061FCD69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주체</a:t>
            </a:r>
          </a:p>
        </p:txBody>
      </p:sp>
      <p:sp>
        <p:nvSpPr>
          <p:cNvPr id="9" name="demo-property-text">
            <a:extLst xmlns:a="http://schemas.openxmlformats.org/drawingml/2006/main">
              <a:ext uri="{FF2B5EF4-FFF2-40B4-BE49-F238E27FC236}">
                <a16:creationId xmlns:a16="http://schemas.microsoft.com/office/drawing/2014/main" id="{F85FAD0C-03F6-4099-9CAE-D1EA4379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14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7414"/>
                </a:solidFill>
                <a:latin typeface="Noto Sans KR"/>
                <a:ea typeface="Noto Sans KR"/>
                <a:cs typeface="Noto Sans KR"/>
              </a:defRPr>
            </a:pPr>
            <a:r>
              <a:t>속성</a:t>
            </a:r>
          </a:p>
        </p:txBody>
      </p:sp>
      <p:sp>
        <p:nvSpPr>
          <p:cNvPr id="10" name="demo-value-text">
            <a:extLst xmlns:a="http://schemas.openxmlformats.org/drawingml/2006/main">
              <a:ext uri="{FF2B5EF4-FFF2-40B4-BE49-F238E27FC236}">
                <a16:creationId xmlns:a16="http://schemas.microsoft.com/office/drawing/2014/main" id="{01B5FEF7-20F7-4970-B600-A83F3678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값</a:t>
            </a:r>
          </a:p>
        </p:txBody>
      </p:sp>
      <p:sp>
        <p:nvSpPr>
          <p:cNvPr id="11" name="demo-rule">
            <a:extLst xmlns:a="http://schemas.openxmlformats.org/drawingml/2006/main">
              <a:ext uri="{FF2B5EF4-FFF2-40B4-BE49-F238E27FC236}">
                <a16:creationId xmlns:a16="http://schemas.microsoft.com/office/drawing/2014/main" id="{798A71EF-7AA2-482F-9448-149DFF7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표현만 바뀌면 통과 · 사실이 바뀌면 탐지</a:t>
            </a:r>
          </a:p>
        </p:txBody>
      </p:sp>
      <p:sp>
        <p:nvSpPr>
          <p:cNvPr id="1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C2DA4925-9A55-476A-913A-5C6A889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D7E3369-EE02-4292-BE01-91882F8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9720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755394BE-5400-4A32-998E-A474BF3A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AI가 흔들려도 색인 정책은 흔들리지 않습니다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E0B5E17-DACA-4267-B578-9653A81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security-grid-v">
            <a:extLst xmlns:a="http://schemas.openxmlformats.org/drawingml/2006/main">
              <a:ext uri="{FF2B5EF4-FFF2-40B4-BE49-F238E27FC236}">
                <a16:creationId xmlns:a16="http://schemas.microsoft.com/office/drawing/2014/main" id="{AFD2D19A-F691-43D1-BE47-469101D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security-grid-h">
            <a:extLst xmlns:a="http://schemas.openxmlformats.org/drawingml/2006/main">
              <a:ext uri="{FF2B5EF4-FFF2-40B4-BE49-F238E27FC236}">
                <a16:creationId xmlns:a16="http://schemas.microsoft.com/office/drawing/2014/main" id="{1BB064D6-D3A7-4177-83EB-E8D4C0F8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sec-num-1">
            <a:extLst xmlns:a="http://schemas.openxmlformats.org/drawingml/2006/main">
              <a:ext uri="{FF2B5EF4-FFF2-40B4-BE49-F238E27FC236}">
                <a16:creationId xmlns:a16="http://schemas.microsoft.com/office/drawing/2014/main" id="{FFE353DD-2CA9-4677-AD26-AD23A30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01</a:t>
            </a:r>
          </a:p>
        </p:txBody>
      </p:sp>
      <p:sp>
        <p:nvSpPr>
          <p:cNvPr id="6" name="sec-title-1">
            <a:extLst xmlns:a="http://schemas.openxmlformats.org/drawingml/2006/main">
              <a:ext uri="{FF2B5EF4-FFF2-40B4-BE49-F238E27FC236}">
                <a16:creationId xmlns:a16="http://schemas.microsoft.com/office/drawing/2014/main" id="{D5E83573-BA74-42E0-A94B-EF242E51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후보 SHA 결속</a:t>
            </a:r>
          </a:p>
        </p:txBody>
      </p:sp>
      <p:sp>
        <p:nvSpPr>
          <p:cNvPr id="7" name="sec-body-1">
            <a:extLst xmlns:a="http://schemas.openxmlformats.org/drawingml/2006/main">
              <a:ext uri="{FF2B5EF4-FFF2-40B4-BE49-F238E27FC236}">
                <a16:creationId xmlns:a16="http://schemas.microsoft.com/office/drawing/2014/main" id="{0F2F7783-C5CB-4CA7-B5D9-D2C6391F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판정과 실제 색인 문서가 같은지 검증</a:t>
            </a:r>
          </a:p>
        </p:txBody>
      </p:sp>
      <p:sp>
        <p:nvSpPr>
          <p:cNvPr id="8" name="sec-num-2">
            <a:extLst xmlns:a="http://schemas.openxmlformats.org/drawingml/2006/main">
              <a:ext uri="{FF2B5EF4-FFF2-40B4-BE49-F238E27FC236}">
                <a16:creationId xmlns:a16="http://schemas.microsoft.com/office/drawing/2014/main" id="{BB29AF43-FD62-44B1-9588-7092CFC9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02</a:t>
            </a:r>
          </a:p>
        </p:txBody>
      </p:sp>
      <p:sp>
        <p:nvSpPr>
          <p:cNvPr id="9" name="sec-title-2">
            <a:extLst xmlns:a="http://schemas.openxmlformats.org/drawingml/2006/main">
              <a:ext uri="{FF2B5EF4-FFF2-40B4-BE49-F238E27FC236}">
                <a16:creationId xmlns:a16="http://schemas.microsoft.com/office/drawing/2014/main" id="{DCF1415C-2C2F-46BE-83E4-6A3E1F88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430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Hard-block 우선</a:t>
            </a:r>
          </a:p>
        </p:txBody>
      </p:sp>
      <p:sp>
        <p:nvSpPr>
          <p:cNvPr id="10" name="sec-body-2">
            <a:extLst xmlns:a="http://schemas.openxmlformats.org/drawingml/2006/main">
              <a:ext uri="{FF2B5EF4-FFF2-40B4-BE49-F238E27FC236}">
                <a16:creationId xmlns:a16="http://schemas.microsoft.com/office/drawing/2014/main" id="{B03AFD4C-0608-4AE8-92A9-6291DDF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430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LLM은 활성 콘텐츠·숨김 공격을 해제할 수 없음</a:t>
            </a:r>
          </a:p>
        </p:txBody>
      </p:sp>
      <p:sp>
        <p:nvSpPr>
          <p:cNvPr id="11" name="sec-num-3">
            <a:extLst xmlns:a="http://schemas.openxmlformats.org/drawingml/2006/main">
              <a:ext uri="{FF2B5EF4-FFF2-40B4-BE49-F238E27FC236}">
                <a16:creationId xmlns:a16="http://schemas.microsoft.com/office/drawing/2014/main" id="{38EA08D4-EC7F-48D6-9211-EB2DA1D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03</a:t>
            </a:r>
          </a:p>
        </p:txBody>
      </p:sp>
      <p:sp>
        <p:nvSpPr>
          <p:cNvPr id="12" name="sec-title-3">
            <a:extLst xmlns:a="http://schemas.openxmlformats.org/drawingml/2006/main">
              <a:ext uri="{FF2B5EF4-FFF2-40B4-BE49-F238E27FC236}">
                <a16:creationId xmlns:a16="http://schemas.microsoft.com/office/drawing/2014/main" id="{58344B27-F500-4863-83B4-2550AE0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Fail-closed</a:t>
            </a:r>
          </a:p>
        </p:txBody>
      </p:sp>
      <p:sp>
        <p:nvSpPr>
          <p:cNvPr id="13" name="sec-body-3">
            <a:extLst xmlns:a="http://schemas.openxmlformats.org/drawingml/2006/main">
              <a:ext uri="{FF2B5EF4-FFF2-40B4-BE49-F238E27FC236}">
                <a16:creationId xmlns:a16="http://schemas.microsoft.com/office/drawing/2014/main" id="{E824429E-2174-4F81-98B1-6490D39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B 장애·응답 오류 시 자동 승인하지 않고 HOLD</a:t>
            </a:r>
          </a:p>
        </p:txBody>
      </p:sp>
      <p:sp>
        <p:nvSpPr>
          <p:cNvPr id="14" name="sec-num-4">
            <a:extLst xmlns:a="http://schemas.openxmlformats.org/drawingml/2006/main">
              <a:ext uri="{FF2B5EF4-FFF2-40B4-BE49-F238E27FC236}">
                <a16:creationId xmlns:a16="http://schemas.microsoft.com/office/drawing/2014/main" id="{0ED4BA78-0BEE-4176-8303-63DE1DA1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04</a:t>
            </a:r>
          </a:p>
        </p:txBody>
      </p:sp>
      <p:sp>
        <p:nvSpPr>
          <p:cNvPr id="15" name="sec-title-4">
            <a:extLst xmlns:a="http://schemas.openxmlformats.org/drawingml/2006/main">
              <a:ext uri="{FF2B5EF4-FFF2-40B4-BE49-F238E27FC236}">
                <a16:creationId xmlns:a16="http://schemas.microsoft.com/office/drawing/2014/main" id="{91F74173-A565-450E-A9FE-BAAC6F4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430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감사 해시 체인</a:t>
            </a:r>
          </a:p>
        </p:txBody>
      </p:sp>
      <p:sp>
        <p:nvSpPr>
          <p:cNvPr id="16" name="sec-body-4">
            <a:extLst xmlns:a="http://schemas.openxmlformats.org/drawingml/2006/main">
              <a:ext uri="{FF2B5EF4-FFF2-40B4-BE49-F238E27FC236}">
                <a16:creationId xmlns:a16="http://schemas.microsoft.com/office/drawing/2014/main" id="{CE4E253D-AE5B-490B-8A69-3041C3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누가·언제·어떤 근거로 처리했는지 추적</a:t>
            </a:r>
          </a:p>
        </p:txBody>
      </p:sp>
      <p:sp>
        <p:nvSpPr>
          <p:cNvPr id="1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19C73EC-5B4F-4747-A32B-013236C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64B8B84-AF8E-4E93-AC53-78A00C31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08490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7">
            <a:extLst xmlns:a="http://schemas.openxmlformats.org/drawingml/2006/main">
              <a:ext uri="{FF2B5EF4-FFF2-40B4-BE49-F238E27FC236}">
                <a16:creationId xmlns:a16="http://schemas.microsoft.com/office/drawing/2014/main" id="{BF50C0B9-329F-4D4B-B0D6-D5B9D49C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핵심 차단 경로를 160개 테스트로 검증했습니다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C919007-4164-48C8-BEFA-5974BC05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928A7FF0-66E5-4D5A-A05F-16DD747A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4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97CAD34B-DD7E-4BED-B30A-008A315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5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C03D410C-B3AB-49A3-A1B0-DB37A15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6" name="evidence-stat-4">
            <a:extLst xmlns:a="http://schemas.openxmlformats.org/drawingml/2006/main">
              <a:ext uri="{FF2B5EF4-FFF2-40B4-BE49-F238E27FC236}">
                <a16:creationId xmlns:a16="http://schemas.microsoft.com/office/drawing/2014/main" id="{CC6D0604-563F-4D9E-8732-AD6835B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7" name="evidence-value-1">
            <a:extLst xmlns:a="http://schemas.openxmlformats.org/drawingml/2006/main">
              <a:ext uri="{FF2B5EF4-FFF2-40B4-BE49-F238E27FC236}">
                <a16:creationId xmlns:a16="http://schemas.microsoft.com/office/drawing/2014/main" id="{A62DBAAA-5F83-4E7F-A38A-A25C9E2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160</a:t>
            </a:r>
          </a:p>
        </p:txBody>
      </p:sp>
      <p:sp>
        <p:nvSpPr>
          <p:cNvPr id="8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C269249B-6F33-40EE-A8F8-6515545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200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전체 테스트 통과</a:t>
            </a:r>
          </a:p>
        </p:txBody>
      </p:sp>
      <p:sp>
        <p:nvSpPr>
          <p:cNvPr id="9" name="evidence-desc-1">
            <a:extLst xmlns:a="http://schemas.openxmlformats.org/drawingml/2006/main">
              <a:ext uri="{FF2B5EF4-FFF2-40B4-BE49-F238E27FC236}">
                <a16:creationId xmlns:a16="http://schemas.microsoft.com/office/drawing/2014/main" id="{56199952-42FB-41F7-AFFF-2F5E24E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계약·파서·API·MCP·E2E</a:t>
            </a:r>
          </a:p>
        </p:txBody>
      </p:sp>
      <p:sp>
        <p:nvSpPr>
          <p:cNvPr id="10" name="evidence-value-2">
            <a:extLst xmlns:a="http://schemas.openxmlformats.org/drawingml/2006/main">
              <a:ext uri="{FF2B5EF4-FFF2-40B4-BE49-F238E27FC236}">
                <a16:creationId xmlns:a16="http://schemas.microsoft.com/office/drawing/2014/main" id="{1CAF14CC-A99C-4BEB-B824-AB97A63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5 / 5</a:t>
            </a:r>
          </a:p>
        </p:txBody>
      </p:sp>
      <p:sp>
        <p:nvSpPr>
          <p:cNvPr id="11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03A0451D-C6BE-45FA-94B3-8C04841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57550"/>
            <a:ext cx="2200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합성 위험 사례 일치</a:t>
            </a:r>
          </a:p>
        </p:txBody>
      </p:sp>
      <p:sp>
        <p:nvSpPr>
          <p:cNvPr id="12" name="evidence-desc-2">
            <a:extLst xmlns:a="http://schemas.openxmlformats.org/drawingml/2006/main">
              <a:ext uri="{FF2B5EF4-FFF2-40B4-BE49-F238E27FC236}">
                <a16:creationId xmlns:a16="http://schemas.microsoft.com/office/drawing/2014/main" id="{5B117AF6-0DD6-442C-856D-528F8CA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8620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정상·변경·숫자·인젝션·스크립트</a:t>
            </a:r>
          </a:p>
        </p:txBody>
      </p:sp>
      <p:sp>
        <p:nvSpPr>
          <p:cNvPr id="13" name="evidence-value-3">
            <a:extLst xmlns:a="http://schemas.openxmlformats.org/drawingml/2006/main">
              <a:ext uri="{FF2B5EF4-FFF2-40B4-BE49-F238E27FC236}">
                <a16:creationId xmlns:a16="http://schemas.microsoft.com/office/drawing/2014/main" id="{C947B14E-E3BE-4D3A-AC25-D32B9C3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3</a:t>
            </a:r>
          </a:p>
        </p:txBody>
      </p:sp>
      <p:sp>
        <p:nvSpPr>
          <p:cNvPr id="14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1FC64809-99CC-47E5-A630-00FC4BC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2200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 형식</a:t>
            </a:r>
          </a:p>
        </p:txBody>
      </p:sp>
      <p:sp>
        <p:nvSpPr>
          <p:cNvPr id="15" name="evidence-desc-3">
            <a:extLst xmlns:a="http://schemas.openxmlformats.org/drawingml/2006/main">
              <a:ext uri="{FF2B5EF4-FFF2-40B4-BE49-F238E27FC236}">
                <a16:creationId xmlns:a16="http://schemas.microsoft.com/office/drawing/2014/main" id="{21359660-2579-43F1-BD8B-FBC34A4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HWPX · PDF · DOCX</a:t>
            </a:r>
          </a:p>
        </p:txBody>
      </p:sp>
      <p:sp>
        <p:nvSpPr>
          <p:cNvPr id="16" name="evidence-value-4">
            <a:extLst xmlns:a="http://schemas.openxmlformats.org/drawingml/2006/main">
              <a:ext uri="{FF2B5EF4-FFF2-40B4-BE49-F238E27FC236}">
                <a16:creationId xmlns:a16="http://schemas.microsoft.com/office/drawing/2014/main" id="{4068CA00-4DE9-4C10-B1C8-28085F91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0</a:t>
            </a:r>
          </a:p>
        </p:txBody>
      </p:sp>
      <p:sp>
        <p:nvSpPr>
          <p:cNvPr id="17" name="evidence-label-4">
            <a:extLst xmlns:a="http://schemas.openxmlformats.org/drawingml/2006/main">
              <a:ext uri="{FF2B5EF4-FFF2-40B4-BE49-F238E27FC236}">
                <a16:creationId xmlns:a16="http://schemas.microsoft.com/office/drawing/2014/main" id="{9154FC3E-5237-43AD-8050-68E7433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5755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BLOCK 문서 색인 청크</a:t>
            </a:r>
          </a:p>
        </p:txBody>
      </p:sp>
      <p:sp>
        <p:nvSpPr>
          <p:cNvPr id="18" name="evidence-desc-4">
            <a:extLst xmlns:a="http://schemas.openxmlformats.org/drawingml/2006/main">
              <a:ext uri="{FF2B5EF4-FFF2-40B4-BE49-F238E27FC236}">
                <a16:creationId xmlns:a16="http://schemas.microsoft.com/office/drawing/2014/main" id="{A1806FF0-97A7-4429-90B4-5410F8D4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22002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격리 문서는 검색되지 않음</a:t>
            </a:r>
          </a:p>
        </p:txBody>
      </p:sp>
      <p:sp>
        <p:nvSpPr>
          <p:cNvPr id="19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21996C80-6B8D-443B-A167-D579F2A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※ 5/5는 저장소의 합성 fixture에 한정된 재현 결과이며 일반 성능 주장이 아닙니다. 2026.07.22 로컬 실행 기준.</a:t>
            </a:r>
          </a:p>
        </p:txBody>
      </p:sp>
      <p:sp>
        <p:nvSpPr>
          <p:cNvPr id="2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981C2D8-3C22-47A7-B4BB-69C0113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2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9926BFBD-912F-4F64-94AE-34156A2B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5525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8">
            <a:extLst xmlns:a="http://schemas.openxmlformats.org/drawingml/2006/main">
              <a:ext uri="{FF2B5EF4-FFF2-40B4-BE49-F238E27FC236}">
                <a16:creationId xmlns:a16="http://schemas.microsoft.com/office/drawing/2014/main" id="{C5268B7C-CF9E-41C5-AD57-F84A73C0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HWPX는 호환 기능이 아니라 시장 진입점입니다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B8D8EA40-4439-47C7-AA1C-8B4A1BD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business-col-1">
            <a:extLst xmlns:a="http://schemas.openxmlformats.org/drawingml/2006/main">
              <a:ext uri="{FF2B5EF4-FFF2-40B4-BE49-F238E27FC236}">
                <a16:creationId xmlns:a16="http://schemas.microsoft.com/office/drawing/2014/main" id="{01254F66-7342-45B6-982E-2181F331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4" name="business-col-2">
            <a:extLst xmlns:a="http://schemas.openxmlformats.org/drawingml/2006/main">
              <a:ext uri="{FF2B5EF4-FFF2-40B4-BE49-F238E27FC236}">
                <a16:creationId xmlns:a16="http://schemas.microsoft.com/office/drawing/2014/main" id="{82B25A5F-E46F-4279-9EF7-7CD1658B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02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5" name="business-col-3">
            <a:extLst xmlns:a="http://schemas.openxmlformats.org/drawingml/2006/main">
              <a:ext uri="{FF2B5EF4-FFF2-40B4-BE49-F238E27FC236}">
                <a16:creationId xmlns:a16="http://schemas.microsoft.com/office/drawing/2014/main" id="{C6E94561-153A-46B3-8D50-245984E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486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6" name="business-title-1">
            <a:extLst xmlns:a="http://schemas.openxmlformats.org/drawingml/2006/main">
              <a:ext uri="{FF2B5EF4-FFF2-40B4-BE49-F238E27FC236}">
                <a16:creationId xmlns:a16="http://schemas.microsoft.com/office/drawing/2014/main" id="{BA1D9E22-0BA7-48E3-B740-34C9CE2F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9813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첫 고객</a:t>
            </a:r>
          </a:p>
        </p:txBody>
      </p:sp>
      <p:sp>
        <p:nvSpPr>
          <p:cNvPr id="7" name="business-sub-1">
            <a:extLst xmlns:a="http://schemas.openxmlformats.org/drawingml/2006/main">
              <a:ext uri="{FF2B5EF4-FFF2-40B4-BE49-F238E27FC236}">
                <a16:creationId xmlns:a16="http://schemas.microsoft.com/office/drawing/2014/main" id="{D03C3866-38E6-4A5A-8476-95F3B73A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9813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공공 · 금융 · 법무 · 제조</a:t>
            </a:r>
          </a:p>
        </p:txBody>
      </p:sp>
      <p:sp>
        <p:nvSpPr>
          <p:cNvPr id="8" name="business-body-1">
            <a:extLst xmlns:a="http://schemas.openxmlformats.org/drawingml/2006/main">
              <a:ext uri="{FF2B5EF4-FFF2-40B4-BE49-F238E27FC236}">
                <a16:creationId xmlns:a16="http://schemas.microsoft.com/office/drawing/2014/main" id="{9845EACD-D95B-4713-A13F-8B391F6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98132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규정과 내부 문서를 RAG에 연결하는 AI 플랫폼·보안·감사 조직</a:t>
            </a:r>
          </a:p>
        </p:txBody>
      </p:sp>
      <p:sp>
        <p:nvSpPr>
          <p:cNvPr id="9" name="business-title-2">
            <a:extLst xmlns:a="http://schemas.openxmlformats.org/drawingml/2006/main">
              <a:ext uri="{FF2B5EF4-FFF2-40B4-BE49-F238E27FC236}">
                <a16:creationId xmlns:a16="http://schemas.microsoft.com/office/drawing/2014/main" id="{9FB03F5C-7348-43C2-B556-3B8F286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66950"/>
            <a:ext cx="29813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도입 방식</a:t>
            </a:r>
          </a:p>
        </p:txBody>
      </p:sp>
      <p:sp>
        <p:nvSpPr>
          <p:cNvPr id="10" name="business-sub-2">
            <a:extLst xmlns:a="http://schemas.openxmlformats.org/drawingml/2006/main">
              <a:ext uri="{FF2B5EF4-FFF2-40B4-BE49-F238E27FC236}">
                <a16:creationId xmlns:a16="http://schemas.microsoft.com/office/drawing/2014/main" id="{7D5BA401-8975-4026-A8B6-A2C9A139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14650"/>
            <a:ext cx="29813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온프레미스 API / 게이트웨이</a:t>
            </a:r>
          </a:p>
        </p:txBody>
      </p:sp>
      <p:sp>
        <p:nvSpPr>
          <p:cNvPr id="11" name="business-body-2">
            <a:extLst xmlns:a="http://schemas.openxmlformats.org/drawingml/2006/main">
              <a:ext uri="{FF2B5EF4-FFF2-40B4-BE49-F238E27FC236}">
                <a16:creationId xmlns:a16="http://schemas.microsoft.com/office/drawing/2014/main" id="{C0163394-ACE0-4ED7-BFB8-68E55F88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29050"/>
            <a:ext cx="29813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 파이프라인 앞에 설치하고 연간 라이선스 + 처리량으로 확장</a:t>
            </a:r>
          </a:p>
        </p:txBody>
      </p:sp>
      <p:sp>
        <p:nvSpPr>
          <p:cNvPr id="12" name="business-title-3">
            <a:extLst xmlns:a="http://schemas.openxmlformats.org/drawingml/2006/main">
              <a:ext uri="{FF2B5EF4-FFF2-40B4-BE49-F238E27FC236}">
                <a16:creationId xmlns:a16="http://schemas.microsoft.com/office/drawing/2014/main" id="{BC8B4904-F3A5-413F-9ABD-D4230F9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한컴 시너지</a:t>
            </a:r>
          </a:p>
        </p:txBody>
      </p:sp>
      <p:sp>
        <p:nvSpPr>
          <p:cNvPr id="13" name="business-sub-3">
            <a:extLst xmlns:a="http://schemas.openxmlformats.org/drawingml/2006/main">
              <a:ext uri="{FF2B5EF4-FFF2-40B4-BE49-F238E27FC236}">
                <a16:creationId xmlns:a16="http://schemas.microsoft.com/office/drawing/2014/main" id="{ACA4A2B9-CBD8-4FA2-872E-6BEA4C90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HWPX-native 보안 계층</a:t>
            </a:r>
          </a:p>
        </p:txBody>
      </p:sp>
      <p:sp>
        <p:nvSpPr>
          <p:cNvPr id="14" name="business-body-3">
            <a:extLst xmlns:a="http://schemas.openxmlformats.org/drawingml/2006/main">
              <a:ext uri="{FF2B5EF4-FFF2-40B4-BE49-F238E27FC236}">
                <a16:creationId xmlns:a16="http://schemas.microsoft.com/office/drawing/2014/main" id="{6F09CEC6-5762-4F80-B5FD-C7EAD2CE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9908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공공·기업 문서가 AI 지식으로 전환되는 순간을 안전하게 보호</a:t>
            </a:r>
          </a:p>
        </p:txBody>
      </p:sp>
      <p:sp>
        <p:nvSpPr>
          <p:cNvPr id="15" name="business-source">
            <a:extLst xmlns:a="http://schemas.openxmlformats.org/drawingml/2006/main">
              <a:ext uri="{FF2B5EF4-FFF2-40B4-BE49-F238E27FC236}">
                <a16:creationId xmlns:a16="http://schemas.microsoft.com/office/drawing/2014/main" id="{61A2E243-F0DC-4981-A2C3-879D90A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출처: 한컴그룹, 「AI 창업에 보안을 더하다」, 2026.06.01</a:t>
            </a:r>
          </a:p>
        </p:txBody>
      </p:sp>
      <p:sp>
        <p:nvSpPr>
          <p:cNvPr id="16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B47FB040-113F-427C-8D66-73BE3549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4055771-1164-4397-A068-FBF01E7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0095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7F6DE35B-CA1F-4124-9272-7EBDDBBF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INDEXGUARD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E39F46C-B207-44F3-986C-2322297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477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RAG 보안의 시작점을
답변에서 색인으로 옮깁니다</a:t>
            </a:r>
          </a:p>
        </p:txBody>
      </p:sp>
      <p:sp>
        <p:nvSpPr>
          <p:cNvPr id="3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02180836-544C-4F4B-840B-A02F955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9FF"/>
          </a:solidFill>
        </p:spPr>
      </p:sp>
      <p:sp>
        <p:nvSpPr>
          <p:cNvPr id="4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FFB17C46-272D-4792-BA0C-E237E86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안전한 문서만 지식이 되게 하겠습니다.</a:t>
            </a:r>
          </a:p>
        </p:txBody>
      </p:sp>
      <p:sp>
        <p:nvSpPr>
          <p:cNvPr id="5" name="closing-scope">
            <a:extLst xmlns:a="http://schemas.openxmlformats.org/drawingml/2006/main">
              <a:ext uri="{FF2B5EF4-FFF2-40B4-BE49-F238E27FC236}">
                <a16:creationId xmlns:a16="http://schemas.microsoft.com/office/drawing/2014/main" id="{9F1E50F0-DB1A-473E-A2B9-51DDDBC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HWPX · PDF · DOCX  |  ALLOW · REVIEW · BLOCK</a:t>
            </a:r>
          </a:p>
        </p:txBody>
      </p:sp>
    </p:spTree>
    <p:extLst>
      <p:ext uri="{BB962C8B-B14F-4D97-AF65-F5344CB8AC3E}">
        <p14:creationId xmlns:p14="http://schemas.microsoft.com/office/powerpoint/2010/main" val="1150227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2026-07-21T18:23:41.6410000Z</dcterms:created>
  <dcterms:modified xsi:type="dcterms:W3CDTF">2026-07-21T18:23:41.6410000Z</dcterms:modified>
</coreProperties>
</file>